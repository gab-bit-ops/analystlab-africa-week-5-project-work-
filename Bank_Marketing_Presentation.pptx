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Subscription Rate</c:v>
                </c:pt>
              </c:strCache>
            </c:strRef>
          </c:tx>
          <c:spPr>
            <a:solidFill>
              <a:srgbClr val="1E2761"/>
            </a:solidFill>
            <a:effectLst/>
          </c:spPr>
          <c:invertIfNegative val="0"/>
          <c:dLbls>
            <c:numFmt formatCode="#,##0"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cat>
            <c:multiLvlStrRef>
              <c:f>Sheet1!$A$2:$A$6</c:f>
              <c:multiLvlStrCache>
                <c:ptCount val="5"/>
                <c:lvl>
                  <c:pt idx="0">
                    <c:v>60 &amp; Above</c:v>
                  </c:pt>
                  <c:pt idx="1">
                    <c:v>Under 30</c:v>
                  </c:pt>
                  <c:pt idx="2">
                    <c:v>31–39</c:v>
                  </c:pt>
                  <c:pt idx="3">
                    <c:v>50–59</c:v>
                  </c:pt>
                  <c:pt idx="4">
                    <c:v>40–49</c:v>
                  </c:pt>
                </c:lvl>
              </c:multiLvlStrCache>
            </c:multiLvlStrRef>
          </c:cat>
          <c:val>
            <c:numRef>
              <c:f>Sheet1!$B$2:$B$6</c:f>
              <c:numCache>
                <c:formatCode>General</c:formatCode>
                <c:ptCount val="5"/>
                <c:pt idx="0">
                  <c:v>77</c:v>
                </c:pt>
                <c:pt idx="1">
                  <c:v>60</c:v>
                </c:pt>
                <c:pt idx="2">
                  <c:v>44</c:v>
                </c:pt>
                <c:pt idx="3">
                  <c:v>42</c:v>
                </c:pt>
                <c:pt idx="4">
                  <c:v>40</c:v>
                </c:pt>
              </c:numCache>
            </c:numRef>
          </c:val>
        </c:ser>
        <c:dLbls>
          <c:numFmt formatCode="#,##0" sourceLinked="0"/>
          <c:txPr>
            <a:bodyPr/>
            <a:lstStyle/>
            <a:p>
              <a:pPr>
                <a:defRPr b="0" i="0" strike="noStrike" sz="1200" u="none">
                  <a:solidFill>
                    <a:srgbClr val="1E27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Contact</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4F9FD8"/>
              </a:solidFill>
              <a:effectLst/>
            </c:spPr>
          </c:dPt>
          <c:dPt>
            <c:idx val="2"/>
            <c:bubble3D val="0"/>
            <c:spPr>
              <a:solidFill>
                <a:srgbClr val="8FA8C8"/>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Cellular</c:v>
                </c:pt>
                <c:pt idx="1">
                  <c:v>Unknown</c:v>
                </c:pt>
                <c:pt idx="2">
                  <c:v>Telephone</c:v>
                </c:pt>
              </c:strCache>
            </c:strRef>
          </c:cat>
          <c:val>
            <c:numRef>
              <c:f>Sheet1!$B$2:$B$4</c:f>
              <c:numCache>
                <c:ptCount val="3"/>
                <c:pt idx="0">
                  <c:v>42.67</c:v>
                </c:pt>
                <c:pt idx="1">
                  <c:v>39.58</c:v>
                </c:pt>
                <c:pt idx="2">
                  <c:v>17.75</c:v>
                </c:pt>
              </c:numCache>
            </c:numRef>
          </c:val>
        </c:ser>
        <c:firstSliceAng val="0"/>
        <c:holeSize val="50"/>
      </c:doughnut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w="12700">
            <a:solidFill>
              <a:srgbClr val="1E2761"/>
            </a:solidFill>
            <a:prstDash val="solid"/>
          </a:ln>
        </p:spPr>
      </p:sp>
      <p:sp>
        <p:nvSpPr>
          <p:cNvPr id="3" name="Shape 1"/>
          <p:cNvSpPr/>
          <p:nvPr/>
        </p:nvSpPr>
        <p:spPr>
          <a:xfrm>
            <a:off x="6858000" y="-914400"/>
            <a:ext cx="4114800" cy="4114800"/>
          </a:xfrm>
          <a:prstGeom prst="ellipse">
            <a:avLst/>
          </a:prstGeom>
          <a:solidFill>
            <a:srgbClr val="2E4A9E">
              <a:alpha val="40000"/>
            </a:srgbClr>
          </a:solidFill>
          <a:ln w="12700">
            <a:solidFill>
              <a:srgbClr val="2E4A9E">
                <a:alpha val="40000"/>
              </a:srgbClr>
            </a:solidFill>
            <a:prstDash val="solid"/>
          </a:ln>
        </p:spPr>
      </p:sp>
      <p:sp>
        <p:nvSpPr>
          <p:cNvPr id="4" name="Shape 2"/>
          <p:cNvSpPr/>
          <p:nvPr/>
        </p:nvSpPr>
        <p:spPr>
          <a:xfrm>
            <a:off x="7498080" y="-274320"/>
            <a:ext cx="2743200" cy="2743200"/>
          </a:xfrm>
          <a:prstGeom prst="ellipse">
            <a:avLst/>
          </a:prstGeom>
          <a:solidFill>
            <a:srgbClr val="4F9FD8">
              <a:alpha val="25000"/>
            </a:srgbClr>
          </a:solidFill>
          <a:ln w="12700">
            <a:solidFill>
              <a:srgbClr val="4F9FD8">
                <a:alpha val="25000"/>
              </a:srgbClr>
            </a:solidFill>
            <a:prstDash val="solid"/>
          </a:ln>
        </p:spPr>
      </p:sp>
      <p:sp>
        <p:nvSpPr>
          <p:cNvPr id="5" name="Shape 3"/>
          <p:cNvSpPr/>
          <p:nvPr/>
        </p:nvSpPr>
        <p:spPr>
          <a:xfrm>
            <a:off x="548640" y="502920"/>
            <a:ext cx="1005840" cy="1005840"/>
          </a:xfrm>
          <a:prstGeom prst="ellipse">
            <a:avLst/>
          </a:prstGeom>
          <a:solidFill>
            <a:srgbClr val="4F9FD8"/>
          </a:solidFill>
          <a:ln w="12700">
            <a:solidFill>
              <a:srgbClr val="4F9FD8"/>
            </a:solidFill>
            <a:prstDash val="solid"/>
          </a:ln>
        </p:spPr>
      </p:sp>
      <p:sp>
        <p:nvSpPr>
          <p:cNvPr id="6" name="Text 4"/>
          <p:cNvSpPr/>
          <p:nvPr/>
        </p:nvSpPr>
        <p:spPr>
          <a:xfrm>
            <a:off x="548640" y="502920"/>
            <a:ext cx="1005840" cy="1005840"/>
          </a:xfrm>
          <a:prstGeom prst="rect">
            <a:avLst/>
          </a:prstGeom>
          <a:noFill/>
          <a:ln/>
        </p:spPr>
        <p:txBody>
          <a:bodyPr wrap="square" rtlCol="0" anchor="ctr"/>
          <a:lstStyle/>
          <a:p>
            <a:pPr algn="ctr" indent="0" marL="0">
              <a:buNone/>
            </a:pPr>
            <a:r>
              <a:rPr lang="en-US" sz="3200" b="1" dirty="0">
                <a:solidFill>
                  <a:srgbClr val="FFFFFF"/>
                </a:solidFill>
              </a:rPr>
              <a:t>$</a:t>
            </a:r>
            <a:endParaRPr lang="en-US" sz="3200" dirty="0"/>
          </a:p>
        </p:txBody>
      </p:sp>
      <p:sp>
        <p:nvSpPr>
          <p:cNvPr id="7" name="Text 5"/>
          <p:cNvSpPr/>
          <p:nvPr/>
        </p:nvSpPr>
        <p:spPr>
          <a:xfrm>
            <a:off x="548640" y="1691640"/>
            <a:ext cx="7772400" cy="777240"/>
          </a:xfrm>
          <a:prstGeom prst="rect">
            <a:avLst/>
          </a:prstGeom>
          <a:noFill/>
          <a:ln/>
        </p:spPr>
        <p:txBody>
          <a:bodyPr wrap="square" lIns="0" tIns="0" rIns="0" bIns="0"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BANK MARKETING</a:t>
            </a:r>
            <a:endParaRPr lang="en-US" sz="4600" dirty="0"/>
          </a:p>
        </p:txBody>
      </p:sp>
      <p:sp>
        <p:nvSpPr>
          <p:cNvPr id="8" name="Text 6"/>
          <p:cNvSpPr/>
          <p:nvPr/>
        </p:nvSpPr>
        <p:spPr>
          <a:xfrm>
            <a:off x="548640" y="2377440"/>
            <a:ext cx="7772400" cy="731520"/>
          </a:xfrm>
          <a:prstGeom prst="rect">
            <a:avLst/>
          </a:prstGeom>
          <a:noFill/>
          <a:ln/>
        </p:spPr>
        <p:txBody>
          <a:bodyPr wrap="square" lIns="0" tIns="0" rIns="0" bIns="0" rtlCol="0" anchor="ctr"/>
          <a:lstStyle/>
          <a:p>
            <a:pPr algn="l" indent="0" marL="0">
              <a:buNone/>
            </a:pPr>
            <a:r>
              <a:rPr lang="en-US" sz="4600" b="1" dirty="0">
                <a:solidFill>
                  <a:srgbClr val="4F9FD8"/>
                </a:solidFill>
                <a:latin typeface="Cambria" pitchFamily="34" charset="0"/>
                <a:ea typeface="Cambria" pitchFamily="34" charset="-122"/>
                <a:cs typeface="Cambria" pitchFamily="34" charset="-120"/>
              </a:rPr>
              <a:t>ANALYTICS</a:t>
            </a:r>
            <a:endParaRPr lang="en-US" sz="4600" dirty="0"/>
          </a:p>
        </p:txBody>
      </p:sp>
      <p:sp>
        <p:nvSpPr>
          <p:cNvPr id="9" name="Text 7"/>
          <p:cNvSpPr/>
          <p:nvPr/>
        </p:nvSpPr>
        <p:spPr>
          <a:xfrm>
            <a:off x="548640" y="3154680"/>
            <a:ext cx="7772400" cy="411480"/>
          </a:xfrm>
          <a:prstGeom prst="rect">
            <a:avLst/>
          </a:prstGeom>
          <a:noFill/>
          <a:ln/>
        </p:spPr>
        <p:txBody>
          <a:bodyPr wrap="square" lIns="0" tIns="0" rIns="0" bIns="0" rtlCol="0" anchor="ctr"/>
          <a:lstStyle/>
          <a:p>
            <a:pPr algn="l" indent="0" marL="0">
              <a:buNone/>
            </a:pPr>
            <a:r>
              <a:rPr lang="en-US" sz="1600" dirty="0">
                <a:solidFill>
                  <a:srgbClr val="8FA8C8"/>
                </a:solidFill>
                <a:latin typeface="Calibri" pitchFamily="34" charset="0"/>
                <a:ea typeface="Calibri" pitchFamily="34" charset="-122"/>
                <a:cs typeface="Calibri" pitchFamily="34" charset="-120"/>
              </a:rPr>
              <a:t>An Overview of Customer Behaviour and Subscriptions</a:t>
            </a:r>
            <a:endParaRPr lang="en-US" sz="1600" dirty="0"/>
          </a:p>
        </p:txBody>
      </p:sp>
      <p:sp>
        <p:nvSpPr>
          <p:cNvPr id="10" name="Shape 8"/>
          <p:cNvSpPr/>
          <p:nvPr/>
        </p:nvSpPr>
        <p:spPr>
          <a:xfrm>
            <a:off x="0" y="4572000"/>
            <a:ext cx="9144000" cy="571500"/>
          </a:xfrm>
          <a:prstGeom prst="rect">
            <a:avLst/>
          </a:prstGeom>
          <a:solidFill>
            <a:srgbClr val="2E4A9E"/>
          </a:solidFill>
          <a:ln w="12700">
            <a:solidFill>
              <a:srgbClr val="2E4A9E"/>
            </a:solidFill>
            <a:prstDash val="solid"/>
          </a:ln>
        </p:spPr>
      </p:sp>
      <p:sp>
        <p:nvSpPr>
          <p:cNvPr id="11" name="Text 9"/>
          <p:cNvSpPr/>
          <p:nvPr/>
        </p:nvSpPr>
        <p:spPr>
          <a:xfrm>
            <a:off x="457200" y="4572000"/>
            <a:ext cx="8229600" cy="571500"/>
          </a:xfrm>
          <a:prstGeom prst="rect">
            <a:avLst/>
          </a:prstGeom>
          <a:noFill/>
          <a:ln/>
        </p:spPr>
        <p:txBody>
          <a:bodyPr wrap="square" lIns="0" tIns="0" rIns="0" bIns="0" rtlCol="0" anchor="ctr"/>
          <a:lstStyle/>
          <a:p>
            <a:pPr algn="ctr" indent="0" marL="0">
              <a:buNone/>
            </a:pPr>
            <a:r>
              <a:rPr lang="en-US" sz="1200" dirty="0">
                <a:solidFill>
                  <a:srgbClr val="8FA8C8"/>
                </a:solidFill>
                <a:latin typeface="Calibri" pitchFamily="34" charset="0"/>
                <a:ea typeface="Calibri" pitchFamily="34" charset="-122"/>
                <a:cs typeface="Calibri" pitchFamily="34" charset="-120"/>
              </a:rPr>
              <a:t>Data Analysis Intern   |   Tools: MySQL &amp; Power BI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algn="l" indent="0" marL="0">
              <a:buNone/>
            </a:pPr>
            <a:r>
              <a:rPr lang="en-US" sz="3600" b="1" dirty="0">
                <a:solidFill>
                  <a:srgbClr val="1A1A2E"/>
                </a:solidFill>
                <a:latin typeface="Cambria" pitchFamily="34" charset="0"/>
                <a:ea typeface="Cambria" pitchFamily="34" charset="-122"/>
                <a:cs typeface="Cambria" pitchFamily="34" charset="-120"/>
              </a:rPr>
              <a:t>Problem Statement</a:t>
            </a:r>
            <a:endParaRPr lang="en-US" sz="3600" dirty="0"/>
          </a:p>
        </p:txBody>
      </p:sp>
      <p:sp>
        <p:nvSpPr>
          <p:cNvPr id="3" name="Shape 1"/>
          <p:cNvSpPr/>
          <p:nvPr/>
        </p:nvSpPr>
        <p:spPr>
          <a:xfrm>
            <a:off x="8046720" y="91440"/>
            <a:ext cx="1371600" cy="1371600"/>
          </a:xfrm>
          <a:prstGeom prst="ellipse">
            <a:avLst/>
          </a:prstGeom>
          <a:solidFill>
            <a:srgbClr val="4F9FD8">
              <a:alpha val="20000"/>
            </a:srgbClr>
          </a:solidFill>
          <a:ln w="12700">
            <a:solidFill>
              <a:srgbClr val="4F9FD8">
                <a:alpha val="20000"/>
              </a:srgbClr>
            </a:solidFill>
            <a:prstDash val="solid"/>
          </a:ln>
        </p:spPr>
      </p:sp>
      <p:sp>
        <p:nvSpPr>
          <p:cNvPr id="4" name="Shape 2"/>
          <p:cNvSpPr/>
          <p:nvPr/>
        </p:nvSpPr>
        <p:spPr>
          <a:xfrm>
            <a:off x="457200" y="1051560"/>
            <a:ext cx="8229600" cy="1005840"/>
          </a:xfrm>
          <a:prstGeom prst="roundRect">
            <a:avLst>
              <a:gd name="adj" fmla="val 9091"/>
            </a:avLst>
          </a:prstGeom>
          <a:solidFill>
            <a:srgbClr val="1E2761"/>
          </a:solidFill>
          <a:ln w="12700">
            <a:solidFill>
              <a:srgbClr val="1E2761"/>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640080" y="1078992"/>
            <a:ext cx="7863840" cy="9144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Portuguese bank ran a direct phone campaign to promote term deposit subscriptions. Despite reaching thousands of customers, many did not subscribe — raising a key analytical challenge.</a:t>
            </a:r>
            <a:endParaRPr lang="en-US" sz="1350" dirty="0"/>
          </a:p>
        </p:txBody>
      </p:sp>
      <p:sp>
        <p:nvSpPr>
          <p:cNvPr id="6" name="Shape 4"/>
          <p:cNvSpPr/>
          <p:nvPr/>
        </p:nvSpPr>
        <p:spPr>
          <a:xfrm>
            <a:off x="457200" y="2286000"/>
            <a:ext cx="4023360" cy="2377440"/>
          </a:xfrm>
          <a:prstGeom prst="roundRect">
            <a:avLst>
              <a:gd name="adj" fmla="val 3846"/>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7" name="Shape 5"/>
          <p:cNvSpPr/>
          <p:nvPr/>
        </p:nvSpPr>
        <p:spPr>
          <a:xfrm>
            <a:off x="594360" y="2395728"/>
            <a:ext cx="502920" cy="502920"/>
          </a:xfrm>
          <a:prstGeom prst="ellipse">
            <a:avLst/>
          </a:prstGeom>
          <a:solidFill>
            <a:srgbClr val="4F9FD8"/>
          </a:solidFill>
          <a:ln w="12700">
            <a:solidFill>
              <a:srgbClr val="4F9FD8"/>
            </a:solidFill>
            <a:prstDash val="solid"/>
          </a:ln>
        </p:spPr>
      </p:sp>
      <p:sp>
        <p:nvSpPr>
          <p:cNvPr id="8" name="Text 6"/>
          <p:cNvSpPr/>
          <p:nvPr/>
        </p:nvSpPr>
        <p:spPr>
          <a:xfrm>
            <a:off x="594360" y="2395728"/>
            <a:ext cx="502920" cy="502920"/>
          </a:xfrm>
          <a:prstGeom prst="rect">
            <a:avLst/>
          </a:prstGeom>
          <a:noFill/>
          <a:ln/>
        </p:spPr>
        <p:txBody>
          <a:bodyPr wrap="square" rtlCol="0" anchor="ctr"/>
          <a:lstStyle/>
          <a:p>
            <a:pPr algn="ctr" indent="0" marL="0">
              <a:buNone/>
            </a:pPr>
            <a:r>
              <a:rPr lang="en-US" sz="1800" b="1" dirty="0">
                <a:solidFill>
                  <a:srgbClr val="FFFFFF"/>
                </a:solidFill>
              </a:rPr>
              <a:t>?</a:t>
            </a:r>
            <a:endParaRPr lang="en-US" sz="1800" dirty="0"/>
          </a:p>
        </p:txBody>
      </p:sp>
      <p:sp>
        <p:nvSpPr>
          <p:cNvPr id="9" name="Text 7"/>
          <p:cNvSpPr/>
          <p:nvPr/>
        </p:nvSpPr>
        <p:spPr>
          <a:xfrm>
            <a:off x="1188720" y="2423160"/>
            <a:ext cx="3200400" cy="411480"/>
          </a:xfrm>
          <a:prstGeom prst="rect">
            <a:avLst/>
          </a:prstGeom>
          <a:noFill/>
          <a:ln/>
        </p:spPr>
        <p:txBody>
          <a:bodyPr wrap="square" lIns="0" tIns="0" rIns="0" bIns="0" rtlCol="0" anchor="ctr"/>
          <a:lstStyle/>
          <a:p>
            <a:pPr indent="0" marL="0">
              <a:buNone/>
            </a:pPr>
            <a:r>
              <a:rPr lang="en-US" sz="1100" b="1" dirty="0">
                <a:solidFill>
                  <a:srgbClr val="4F9FD8"/>
                </a:solidFill>
                <a:latin typeface="Calibri" pitchFamily="34" charset="0"/>
                <a:ea typeface="Calibri" pitchFamily="34" charset="-122"/>
                <a:cs typeface="Calibri" pitchFamily="34" charset="-120"/>
              </a:rPr>
              <a:t>Business Question 1</a:t>
            </a:r>
            <a:endParaRPr lang="en-US" sz="1100" dirty="0"/>
          </a:p>
        </p:txBody>
      </p:sp>
      <p:sp>
        <p:nvSpPr>
          <p:cNvPr id="10" name="Text 8"/>
          <p:cNvSpPr/>
          <p:nvPr/>
        </p:nvSpPr>
        <p:spPr>
          <a:xfrm>
            <a:off x="640080" y="2926080"/>
            <a:ext cx="3657600" cy="164592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Why do some customers subscribe to a term deposit while others do not?</a:t>
            </a:r>
            <a:endParaRPr lang="en-US" sz="1300" dirty="0"/>
          </a:p>
        </p:txBody>
      </p:sp>
      <p:sp>
        <p:nvSpPr>
          <p:cNvPr id="11" name="Shape 9"/>
          <p:cNvSpPr/>
          <p:nvPr/>
        </p:nvSpPr>
        <p:spPr>
          <a:xfrm>
            <a:off x="4663440" y="2286000"/>
            <a:ext cx="4023360" cy="2377440"/>
          </a:xfrm>
          <a:prstGeom prst="roundRect">
            <a:avLst>
              <a:gd name="adj" fmla="val 3846"/>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12" name="Shape 10"/>
          <p:cNvSpPr/>
          <p:nvPr/>
        </p:nvSpPr>
        <p:spPr>
          <a:xfrm>
            <a:off x="4800600" y="2395728"/>
            <a:ext cx="502920" cy="502920"/>
          </a:xfrm>
          <a:prstGeom prst="ellipse">
            <a:avLst/>
          </a:prstGeom>
          <a:solidFill>
            <a:srgbClr val="4F9FD8"/>
          </a:solidFill>
          <a:ln w="12700">
            <a:solidFill>
              <a:srgbClr val="4F9FD8"/>
            </a:solidFill>
            <a:prstDash val="solid"/>
          </a:ln>
        </p:spPr>
      </p:sp>
      <p:sp>
        <p:nvSpPr>
          <p:cNvPr id="13" name="Text 11"/>
          <p:cNvSpPr/>
          <p:nvPr/>
        </p:nvSpPr>
        <p:spPr>
          <a:xfrm>
            <a:off x="4800600" y="2395728"/>
            <a:ext cx="502920" cy="502920"/>
          </a:xfrm>
          <a:prstGeom prst="rect">
            <a:avLst/>
          </a:prstGeom>
          <a:noFill/>
          <a:ln/>
        </p:spPr>
        <p:txBody>
          <a:bodyPr wrap="square" rtlCol="0" anchor="ctr"/>
          <a:lstStyle/>
          <a:p>
            <a:pPr algn="ctr" indent="0" marL="0">
              <a:buNone/>
            </a:pPr>
            <a:r>
              <a:rPr lang="en-US" sz="1800" b="1" dirty="0">
                <a:solidFill>
                  <a:srgbClr val="FFFFFF"/>
                </a:solidFill>
              </a:rPr>
              <a:t>?</a:t>
            </a:r>
            <a:endParaRPr lang="en-US" sz="1800" dirty="0"/>
          </a:p>
        </p:txBody>
      </p:sp>
      <p:sp>
        <p:nvSpPr>
          <p:cNvPr id="14" name="Text 12"/>
          <p:cNvSpPr/>
          <p:nvPr/>
        </p:nvSpPr>
        <p:spPr>
          <a:xfrm>
            <a:off x="5394960" y="2423160"/>
            <a:ext cx="3200400" cy="411480"/>
          </a:xfrm>
          <a:prstGeom prst="rect">
            <a:avLst/>
          </a:prstGeom>
          <a:noFill/>
          <a:ln/>
        </p:spPr>
        <p:txBody>
          <a:bodyPr wrap="square" lIns="0" tIns="0" rIns="0" bIns="0" rtlCol="0" anchor="ctr"/>
          <a:lstStyle/>
          <a:p>
            <a:pPr indent="0" marL="0">
              <a:buNone/>
            </a:pPr>
            <a:r>
              <a:rPr lang="en-US" sz="1100" b="1" dirty="0">
                <a:solidFill>
                  <a:srgbClr val="4F9FD8"/>
                </a:solidFill>
                <a:latin typeface="Calibri" pitchFamily="34" charset="0"/>
                <a:ea typeface="Calibri" pitchFamily="34" charset="-122"/>
                <a:cs typeface="Calibri" pitchFamily="34" charset="-120"/>
              </a:rPr>
              <a:t>Business Question 2</a:t>
            </a:r>
            <a:endParaRPr lang="en-US" sz="1100" dirty="0"/>
          </a:p>
        </p:txBody>
      </p:sp>
      <p:sp>
        <p:nvSpPr>
          <p:cNvPr id="15" name="Text 13"/>
          <p:cNvSpPr/>
          <p:nvPr/>
        </p:nvSpPr>
        <p:spPr>
          <a:xfrm>
            <a:off x="4846320" y="2926080"/>
            <a:ext cx="3657600" cy="164592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Which customer groups are more likely to respond positively to marketing campaigns?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algn="l" indent="0" marL="0">
              <a:buNone/>
            </a:pPr>
            <a:r>
              <a:rPr lang="en-US" sz="3600" b="1" dirty="0">
                <a:solidFill>
                  <a:srgbClr val="1A1A2E"/>
                </a:solidFill>
                <a:latin typeface="Cambria" pitchFamily="34" charset="0"/>
                <a:ea typeface="Cambria" pitchFamily="34" charset="-122"/>
                <a:cs typeface="Cambria" pitchFamily="34" charset="-120"/>
              </a:rPr>
              <a:t>Dataset Overview</a:t>
            </a:r>
            <a:endParaRPr lang="en-US" sz="3600" dirty="0"/>
          </a:p>
        </p:txBody>
      </p:sp>
      <p:sp>
        <p:nvSpPr>
          <p:cNvPr id="3" name="Text 1"/>
          <p:cNvSpPr/>
          <p:nvPr/>
        </p:nvSpPr>
        <p:spPr>
          <a:xfrm>
            <a:off x="457200" y="841248"/>
            <a:ext cx="8229600" cy="320040"/>
          </a:xfrm>
          <a:prstGeom prst="rect">
            <a:avLst/>
          </a:prstGeom>
          <a:noFill/>
          <a:ln/>
        </p:spPr>
        <p:txBody>
          <a:bodyPr wrap="square" lIns="0" tIns="0" rIns="0" bIns="0" rtlCol="0" anchor="ctr"/>
          <a:lstStyle/>
          <a:p>
            <a:pPr algn="l" indent="0" marL="0">
              <a:buNone/>
            </a:pPr>
            <a:r>
              <a:rPr lang="en-US" sz="1300" dirty="0">
                <a:solidFill>
                  <a:srgbClr val="3D5A80"/>
                </a:solidFill>
                <a:latin typeface="Calibri" pitchFamily="34" charset="0"/>
                <a:ea typeface="Calibri" pitchFamily="34" charset="-122"/>
                <a:cs typeface="Calibri" pitchFamily="34" charset="-120"/>
              </a:rPr>
              <a:t>Bank Marketing Dataset — Portuguese Banking Institution</a:t>
            </a:r>
            <a:endParaRPr lang="en-US" sz="1300" dirty="0"/>
          </a:p>
        </p:txBody>
      </p:sp>
      <p:sp>
        <p:nvSpPr>
          <p:cNvPr id="4" name="Shape 2"/>
          <p:cNvSpPr/>
          <p:nvPr/>
        </p:nvSpPr>
        <p:spPr>
          <a:xfrm>
            <a:off x="365760" y="1280160"/>
            <a:ext cx="1920240" cy="1371600"/>
          </a:xfrm>
          <a:prstGeom prst="roundRect">
            <a:avLst>
              <a:gd name="adj" fmla="val 6667"/>
            </a:avLst>
          </a:prstGeom>
          <a:solidFill>
            <a:srgbClr val="1E2761"/>
          </a:solidFill>
          <a:ln w="12700">
            <a:solidFill>
              <a:srgbClr val="1E2761"/>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365760" y="1371600"/>
            <a:ext cx="192024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11,162</a:t>
            </a:r>
            <a:endParaRPr lang="en-US" sz="2600" dirty="0"/>
          </a:p>
        </p:txBody>
      </p:sp>
      <p:sp>
        <p:nvSpPr>
          <p:cNvPr id="6" name="Text 4"/>
          <p:cNvSpPr/>
          <p:nvPr/>
        </p:nvSpPr>
        <p:spPr>
          <a:xfrm>
            <a:off x="365760" y="1993392"/>
            <a:ext cx="1920240"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Total Records</a:t>
            </a:r>
            <a:endParaRPr lang="en-US" sz="1050" dirty="0"/>
          </a:p>
        </p:txBody>
      </p:sp>
      <p:sp>
        <p:nvSpPr>
          <p:cNvPr id="7" name="Shape 5"/>
          <p:cNvSpPr/>
          <p:nvPr/>
        </p:nvSpPr>
        <p:spPr>
          <a:xfrm>
            <a:off x="2514600" y="1280160"/>
            <a:ext cx="1920240" cy="1371600"/>
          </a:xfrm>
          <a:prstGeom prst="roundRect">
            <a:avLst>
              <a:gd name="adj" fmla="val 6667"/>
            </a:avLst>
          </a:prstGeom>
          <a:solidFill>
            <a:srgbClr val="2E4A9E"/>
          </a:solidFill>
          <a:ln w="12700">
            <a:solidFill>
              <a:srgbClr val="2E4A9E"/>
            </a:solidFill>
            <a:prstDash val="solid"/>
          </a:ln>
          <a:effectLst>
            <a:outerShdw sx="100000" sy="100000" kx="0" ky="0" algn="bl" rotWithShape="0" blurRad="101600" dist="38100" dir="2700000">
              <a:srgbClr val="000000">
                <a:alpha val="15000"/>
              </a:srgbClr>
            </a:outerShdw>
          </a:effectLst>
        </p:spPr>
      </p:sp>
      <p:sp>
        <p:nvSpPr>
          <p:cNvPr id="8" name="Text 6"/>
          <p:cNvSpPr/>
          <p:nvPr/>
        </p:nvSpPr>
        <p:spPr>
          <a:xfrm>
            <a:off x="2514600" y="1371600"/>
            <a:ext cx="192024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17</a:t>
            </a:r>
            <a:endParaRPr lang="en-US" sz="2600" dirty="0"/>
          </a:p>
        </p:txBody>
      </p:sp>
      <p:sp>
        <p:nvSpPr>
          <p:cNvPr id="9" name="Text 7"/>
          <p:cNvSpPr/>
          <p:nvPr/>
        </p:nvSpPr>
        <p:spPr>
          <a:xfrm>
            <a:off x="2514600" y="1993392"/>
            <a:ext cx="1920240"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Attributes</a:t>
            </a:r>
            <a:endParaRPr lang="en-US" sz="1050" dirty="0"/>
          </a:p>
        </p:txBody>
      </p:sp>
      <p:sp>
        <p:nvSpPr>
          <p:cNvPr id="10" name="Shape 8"/>
          <p:cNvSpPr/>
          <p:nvPr/>
        </p:nvSpPr>
        <p:spPr>
          <a:xfrm>
            <a:off x="4663440" y="1280160"/>
            <a:ext cx="1920240" cy="1371600"/>
          </a:xfrm>
          <a:prstGeom prst="roundRect">
            <a:avLst>
              <a:gd name="adj" fmla="val 6667"/>
            </a:avLst>
          </a:prstGeom>
          <a:solidFill>
            <a:srgbClr val="4F9FD8"/>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11" name="Text 9"/>
          <p:cNvSpPr/>
          <p:nvPr/>
        </p:nvSpPr>
        <p:spPr>
          <a:xfrm>
            <a:off x="4663440" y="1371600"/>
            <a:ext cx="192024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47.38%</a:t>
            </a:r>
            <a:endParaRPr lang="en-US" sz="2600" dirty="0"/>
          </a:p>
        </p:txBody>
      </p:sp>
      <p:sp>
        <p:nvSpPr>
          <p:cNvPr id="12" name="Text 10"/>
          <p:cNvSpPr/>
          <p:nvPr/>
        </p:nvSpPr>
        <p:spPr>
          <a:xfrm>
            <a:off x="4663440" y="1993392"/>
            <a:ext cx="1920240"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Subscription Rate</a:t>
            </a:r>
            <a:endParaRPr lang="en-US" sz="1050" dirty="0"/>
          </a:p>
        </p:txBody>
      </p:sp>
      <p:sp>
        <p:nvSpPr>
          <p:cNvPr id="13" name="Shape 11"/>
          <p:cNvSpPr/>
          <p:nvPr/>
        </p:nvSpPr>
        <p:spPr>
          <a:xfrm>
            <a:off x="6812280" y="1280160"/>
            <a:ext cx="1920240" cy="1371600"/>
          </a:xfrm>
          <a:prstGeom prst="roundRect">
            <a:avLst>
              <a:gd name="adj" fmla="val 6667"/>
            </a:avLst>
          </a:prstGeom>
          <a:solidFill>
            <a:srgbClr val="1A7A4A"/>
          </a:solidFill>
          <a:ln w="12700">
            <a:solidFill>
              <a:srgbClr val="1A7A4A"/>
            </a:solidFill>
            <a:prstDash val="solid"/>
          </a:ln>
          <a:effectLst>
            <a:outerShdw sx="100000" sy="100000" kx="0" ky="0" algn="bl" rotWithShape="0" blurRad="101600" dist="38100" dir="2700000">
              <a:srgbClr val="000000">
                <a:alpha val="15000"/>
              </a:srgbClr>
            </a:outerShdw>
          </a:effectLst>
        </p:spPr>
      </p:sp>
      <p:sp>
        <p:nvSpPr>
          <p:cNvPr id="14" name="Text 12"/>
          <p:cNvSpPr/>
          <p:nvPr/>
        </p:nvSpPr>
        <p:spPr>
          <a:xfrm>
            <a:off x="6812280" y="1371600"/>
            <a:ext cx="192024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5K</a:t>
            </a:r>
            <a:endParaRPr lang="en-US" sz="2600" dirty="0"/>
          </a:p>
        </p:txBody>
      </p:sp>
      <p:sp>
        <p:nvSpPr>
          <p:cNvPr id="15" name="Text 13"/>
          <p:cNvSpPr/>
          <p:nvPr/>
        </p:nvSpPr>
        <p:spPr>
          <a:xfrm>
            <a:off x="6812280" y="1993392"/>
            <a:ext cx="1920240" cy="54864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Total Subscribers</a:t>
            </a:r>
            <a:endParaRPr lang="en-US" sz="1050" dirty="0"/>
          </a:p>
        </p:txBody>
      </p:sp>
      <p:sp>
        <p:nvSpPr>
          <p:cNvPr id="16" name="Text 14"/>
          <p:cNvSpPr/>
          <p:nvPr/>
        </p:nvSpPr>
        <p:spPr>
          <a:xfrm>
            <a:off x="457200" y="2834640"/>
            <a:ext cx="8229600" cy="36576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Key Variables Analysed</a:t>
            </a:r>
            <a:endParaRPr lang="en-US" sz="1500" dirty="0"/>
          </a:p>
        </p:txBody>
      </p:sp>
      <p:sp>
        <p:nvSpPr>
          <p:cNvPr id="17" name="Shape 15"/>
          <p:cNvSpPr/>
          <p:nvPr/>
        </p:nvSpPr>
        <p:spPr>
          <a:xfrm>
            <a:off x="457200" y="32918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2918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age  </a:t>
            </a:r>
            <a:pPr indent="0" marL="0">
              <a:buNone/>
            </a:pPr>
            <a:r>
              <a:rPr lang="en-US" sz="1000" dirty="0">
                <a:solidFill>
                  <a:srgbClr val="3D5A80"/>
                </a:solidFill>
                <a:latin typeface="Calibri" pitchFamily="34" charset="0"/>
                <a:ea typeface="Calibri" pitchFamily="34" charset="-122"/>
                <a:cs typeface="Calibri" pitchFamily="34" charset="-120"/>
              </a:rPr>
              <a:t>Customer age</a:t>
            </a:r>
            <a:endParaRPr lang="en-US" sz="1000" dirty="0"/>
          </a:p>
        </p:txBody>
      </p:sp>
      <p:sp>
        <p:nvSpPr>
          <p:cNvPr id="19" name="Shape 17"/>
          <p:cNvSpPr/>
          <p:nvPr/>
        </p:nvSpPr>
        <p:spPr>
          <a:xfrm>
            <a:off x="2606040" y="32918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20" name="Text 18"/>
          <p:cNvSpPr/>
          <p:nvPr/>
        </p:nvSpPr>
        <p:spPr>
          <a:xfrm>
            <a:off x="2697480" y="32918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job  </a:t>
            </a:r>
            <a:pPr indent="0" marL="0">
              <a:buNone/>
            </a:pPr>
            <a:r>
              <a:rPr lang="en-US" sz="1000" dirty="0">
                <a:solidFill>
                  <a:srgbClr val="3D5A80"/>
                </a:solidFill>
                <a:latin typeface="Calibri" pitchFamily="34" charset="0"/>
                <a:ea typeface="Calibri" pitchFamily="34" charset="-122"/>
                <a:cs typeface="Calibri" pitchFamily="34" charset="-120"/>
              </a:rPr>
              <a:t>Employment type</a:t>
            </a:r>
            <a:endParaRPr lang="en-US" sz="1000" dirty="0"/>
          </a:p>
        </p:txBody>
      </p:sp>
      <p:sp>
        <p:nvSpPr>
          <p:cNvPr id="21" name="Shape 19"/>
          <p:cNvSpPr/>
          <p:nvPr/>
        </p:nvSpPr>
        <p:spPr>
          <a:xfrm>
            <a:off x="4754880" y="32918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22" name="Text 20"/>
          <p:cNvSpPr/>
          <p:nvPr/>
        </p:nvSpPr>
        <p:spPr>
          <a:xfrm>
            <a:off x="4846320" y="32918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education  </a:t>
            </a:r>
            <a:pPr indent="0" marL="0">
              <a:buNone/>
            </a:pPr>
            <a:r>
              <a:rPr lang="en-US" sz="1000" dirty="0">
                <a:solidFill>
                  <a:srgbClr val="3D5A80"/>
                </a:solidFill>
                <a:latin typeface="Calibri" pitchFamily="34" charset="0"/>
                <a:ea typeface="Calibri" pitchFamily="34" charset="-122"/>
                <a:cs typeface="Calibri" pitchFamily="34" charset="-120"/>
              </a:rPr>
              <a:t>Level of education</a:t>
            </a:r>
            <a:endParaRPr lang="en-US" sz="1000" dirty="0"/>
          </a:p>
        </p:txBody>
      </p:sp>
      <p:sp>
        <p:nvSpPr>
          <p:cNvPr id="23" name="Shape 21"/>
          <p:cNvSpPr/>
          <p:nvPr/>
        </p:nvSpPr>
        <p:spPr>
          <a:xfrm>
            <a:off x="6903720" y="32918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6995160" y="32918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balance  </a:t>
            </a:r>
            <a:pPr indent="0" marL="0">
              <a:buNone/>
            </a:pPr>
            <a:r>
              <a:rPr lang="en-US" sz="1000" dirty="0">
                <a:solidFill>
                  <a:srgbClr val="3D5A80"/>
                </a:solidFill>
                <a:latin typeface="Calibri" pitchFamily="34" charset="0"/>
                <a:ea typeface="Calibri" pitchFamily="34" charset="-122"/>
                <a:cs typeface="Calibri" pitchFamily="34" charset="-120"/>
              </a:rPr>
              <a:t>Avg yearly balance</a:t>
            </a:r>
            <a:endParaRPr lang="en-US" sz="1000" dirty="0"/>
          </a:p>
        </p:txBody>
      </p:sp>
      <p:sp>
        <p:nvSpPr>
          <p:cNvPr id="25" name="Shape 23"/>
          <p:cNvSpPr/>
          <p:nvPr/>
        </p:nvSpPr>
        <p:spPr>
          <a:xfrm>
            <a:off x="457200" y="39776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26" name="Text 24"/>
          <p:cNvSpPr/>
          <p:nvPr/>
        </p:nvSpPr>
        <p:spPr>
          <a:xfrm>
            <a:off x="548640" y="39776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contact  </a:t>
            </a:r>
            <a:pPr indent="0" marL="0">
              <a:buNone/>
            </a:pPr>
            <a:r>
              <a:rPr lang="en-US" sz="1000" dirty="0">
                <a:solidFill>
                  <a:srgbClr val="3D5A80"/>
                </a:solidFill>
                <a:latin typeface="Calibri" pitchFamily="34" charset="0"/>
                <a:ea typeface="Calibri" pitchFamily="34" charset="-122"/>
                <a:cs typeface="Calibri" pitchFamily="34" charset="-120"/>
              </a:rPr>
              <a:t>Communication type</a:t>
            </a:r>
            <a:endParaRPr lang="en-US" sz="1000" dirty="0"/>
          </a:p>
        </p:txBody>
      </p:sp>
      <p:sp>
        <p:nvSpPr>
          <p:cNvPr id="27" name="Shape 25"/>
          <p:cNvSpPr/>
          <p:nvPr/>
        </p:nvSpPr>
        <p:spPr>
          <a:xfrm>
            <a:off x="2606040" y="39776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28" name="Text 26"/>
          <p:cNvSpPr/>
          <p:nvPr/>
        </p:nvSpPr>
        <p:spPr>
          <a:xfrm>
            <a:off x="2697480" y="39776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poutcome  </a:t>
            </a:r>
            <a:pPr indent="0" marL="0">
              <a:buNone/>
            </a:pPr>
            <a:r>
              <a:rPr lang="en-US" sz="1000" dirty="0">
                <a:solidFill>
                  <a:srgbClr val="3D5A80"/>
                </a:solidFill>
                <a:latin typeface="Calibri" pitchFamily="34" charset="0"/>
                <a:ea typeface="Calibri" pitchFamily="34" charset="-122"/>
                <a:cs typeface="Calibri" pitchFamily="34" charset="-120"/>
              </a:rPr>
              <a:t>Previous campaign result</a:t>
            </a:r>
            <a:endParaRPr lang="en-US" sz="1000" dirty="0"/>
          </a:p>
        </p:txBody>
      </p:sp>
      <p:sp>
        <p:nvSpPr>
          <p:cNvPr id="29" name="Shape 27"/>
          <p:cNvSpPr/>
          <p:nvPr/>
        </p:nvSpPr>
        <p:spPr>
          <a:xfrm>
            <a:off x="4754880" y="39776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4846320" y="39776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duration  </a:t>
            </a:r>
            <a:pPr indent="0" marL="0">
              <a:buNone/>
            </a:pPr>
            <a:r>
              <a:rPr lang="en-US" sz="1000" dirty="0">
                <a:solidFill>
                  <a:srgbClr val="3D5A80"/>
                </a:solidFill>
                <a:latin typeface="Calibri" pitchFamily="34" charset="0"/>
                <a:ea typeface="Calibri" pitchFamily="34" charset="-122"/>
                <a:cs typeface="Calibri" pitchFamily="34" charset="-120"/>
              </a:rPr>
              <a:t>Last call duration (secs)</a:t>
            </a:r>
            <a:endParaRPr lang="en-US" sz="1000" dirty="0"/>
          </a:p>
        </p:txBody>
      </p:sp>
      <p:sp>
        <p:nvSpPr>
          <p:cNvPr id="31" name="Shape 29"/>
          <p:cNvSpPr/>
          <p:nvPr/>
        </p:nvSpPr>
        <p:spPr>
          <a:xfrm>
            <a:off x="6903720" y="3977640"/>
            <a:ext cx="1920240" cy="548640"/>
          </a:xfrm>
          <a:prstGeom prst="roundRect">
            <a:avLst>
              <a:gd name="adj" fmla="val 13333"/>
            </a:avLst>
          </a:prstGeom>
          <a:solidFill>
            <a:srgbClr val="FFFFFF"/>
          </a:solidFill>
          <a:ln w="12700">
            <a:solidFill>
              <a:srgbClr val="4F9FD8"/>
            </a:solidFill>
            <a:prstDash val="solid"/>
          </a:ln>
          <a:effectLst>
            <a:outerShdw sx="100000" sy="100000" kx="0" ky="0" algn="bl" rotWithShape="0" blurRad="101600" dist="38100" dir="2700000">
              <a:srgbClr val="000000">
                <a:alpha val="15000"/>
              </a:srgbClr>
            </a:outerShdw>
          </a:effectLst>
        </p:spPr>
      </p:sp>
      <p:sp>
        <p:nvSpPr>
          <p:cNvPr id="32" name="Text 30"/>
          <p:cNvSpPr/>
          <p:nvPr/>
        </p:nvSpPr>
        <p:spPr>
          <a:xfrm>
            <a:off x="6995160" y="3977640"/>
            <a:ext cx="1737360" cy="548640"/>
          </a:xfrm>
          <a:prstGeom prst="rect">
            <a:avLst/>
          </a:prstGeom>
          <a:noFill/>
          <a:ln/>
        </p:spPr>
        <p:txBody>
          <a:bodyPr wrap="square" lIns="0" tIns="0" rIns="0" bIns="0" rtlCol="0" anchor="ctr"/>
          <a:lstStyle/>
          <a:p>
            <a:pPr indent="0" marL="0">
              <a:buNone/>
            </a:pPr>
            <a:r>
              <a:rPr lang="en-US" sz="1000" b="1" dirty="0">
                <a:solidFill>
                  <a:srgbClr val="4F9FD8"/>
                </a:solidFill>
                <a:latin typeface="Calibri" pitchFamily="34" charset="0"/>
                <a:ea typeface="Calibri" pitchFamily="34" charset="-122"/>
                <a:cs typeface="Calibri" pitchFamily="34" charset="-120"/>
              </a:rPr>
              <a:t>deposit  </a:t>
            </a:r>
            <a:pPr indent="0" marL="0">
              <a:buNone/>
            </a:pPr>
            <a:r>
              <a:rPr lang="en-US" sz="1000" dirty="0">
                <a:solidFill>
                  <a:srgbClr val="3D5A80"/>
                </a:solidFill>
                <a:latin typeface="Calibri" pitchFamily="34" charset="0"/>
                <a:ea typeface="Calibri" pitchFamily="34" charset="-122"/>
                <a:cs typeface="Calibri" pitchFamily="34" charset="-120"/>
              </a:rPr>
              <a:t>Target variable (yes/no)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algn="l" indent="0" marL="0">
              <a:buNone/>
            </a:pPr>
            <a:r>
              <a:rPr lang="en-US" sz="3600" b="1" dirty="0">
                <a:solidFill>
                  <a:srgbClr val="1A1A2E"/>
                </a:solidFill>
                <a:latin typeface="Cambria" pitchFamily="34" charset="0"/>
                <a:ea typeface="Cambria" pitchFamily="34" charset="-122"/>
                <a:cs typeface="Cambria" pitchFamily="34" charset="-120"/>
              </a:rPr>
              <a:t>Key Visualizations</a:t>
            </a:r>
            <a:endParaRPr lang="en-US" sz="3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indent="0" marL="0">
              <a:buNone/>
            </a:pPr>
            <a:r>
              <a:rPr lang="en-US" sz="1200" dirty="0">
                <a:solidFill>
                  <a:srgbClr val="3D5A80"/>
                </a:solidFill>
                <a:latin typeface="Calibri" pitchFamily="34" charset="0"/>
                <a:ea typeface="Calibri" pitchFamily="34" charset="-122"/>
                <a:cs typeface="Calibri" pitchFamily="34" charset="-120"/>
              </a:rPr>
              <a:t>Subscription rates across key customer segments</a:t>
            </a:r>
            <a:endParaRPr lang="en-US" sz="1200" dirty="0"/>
          </a:p>
        </p:txBody>
      </p:sp>
      <p:sp>
        <p:nvSpPr>
          <p:cNvPr id="4" name="Text 2"/>
          <p:cNvSpPr/>
          <p:nvPr/>
        </p:nvSpPr>
        <p:spPr>
          <a:xfrm>
            <a:off x="457200" y="1051560"/>
            <a:ext cx="4023360" cy="274320"/>
          </a:xfrm>
          <a:prstGeom prst="rect">
            <a:avLst/>
          </a:prstGeom>
          <a:noFill/>
          <a:ln/>
        </p:spPr>
        <p:txBody>
          <a:bodyPr wrap="square" lIns="0" tIns="0" rIns="0" bIns="0" rtlCol="0" anchor="ctr"/>
          <a:lstStyle/>
          <a:p>
            <a:pPr indent="0" marL="0">
              <a:buNone/>
            </a:pPr>
            <a:r>
              <a:rPr lang="en-US" sz="1100" b="1" dirty="0">
                <a:solidFill>
                  <a:srgbClr val="3D5A80"/>
                </a:solidFill>
                <a:latin typeface="Calibri" pitchFamily="34" charset="0"/>
                <a:ea typeface="Calibri" pitchFamily="34" charset="-122"/>
                <a:cs typeface="Calibri" pitchFamily="34" charset="-120"/>
              </a:rPr>
              <a:t>Subscription Rate by Age Group (%)</a:t>
            </a:r>
            <a:endParaRPr lang="en-US" sz="1100" dirty="0"/>
          </a:p>
        </p:txBody>
      </p:sp>
      <p:graphicFrame>
        <p:nvGraphicFramePr>
          <p:cNvPr id="5" name="Chart 0" descr=""/>
          <p:cNvGraphicFramePr/>
          <p:nvPr/>
        </p:nvGraphicFramePr>
        <p:xfrm>
          <a:off x="365760" y="1325880"/>
          <a:ext cx="420624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754880" y="1051560"/>
            <a:ext cx="4023360" cy="274320"/>
          </a:xfrm>
          <a:prstGeom prst="rect">
            <a:avLst/>
          </a:prstGeom>
          <a:noFill/>
          <a:ln/>
        </p:spPr>
        <p:txBody>
          <a:bodyPr wrap="square" lIns="0" tIns="0" rIns="0" bIns="0" rtlCol="0" anchor="ctr"/>
          <a:lstStyle/>
          <a:p>
            <a:pPr indent="0" marL="0">
              <a:buNone/>
            </a:pPr>
            <a:r>
              <a:rPr lang="en-US" sz="1100" b="1" dirty="0">
                <a:solidFill>
                  <a:srgbClr val="3D5A80"/>
                </a:solidFill>
                <a:latin typeface="Calibri" pitchFamily="34" charset="0"/>
                <a:ea typeface="Calibri" pitchFamily="34" charset="-122"/>
                <a:cs typeface="Calibri" pitchFamily="34" charset="-120"/>
              </a:rPr>
              <a:t>Contact Method Distribution (%)</a:t>
            </a:r>
            <a:endParaRPr lang="en-US" sz="1100" dirty="0"/>
          </a:p>
        </p:txBody>
      </p:sp>
      <p:graphicFrame>
        <p:nvGraphicFramePr>
          <p:cNvPr id="7" name="Chart 1" descr=""/>
          <p:cNvGraphicFramePr/>
          <p:nvPr/>
        </p:nvGraphicFramePr>
        <p:xfrm>
          <a:off x="4663440" y="1325880"/>
          <a:ext cx="4206240" cy="31089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Key Findings</a:t>
            </a:r>
            <a:endParaRPr lang="en-US" sz="36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8FA8C8"/>
                </a:solidFill>
                <a:latin typeface="Calibri" pitchFamily="34" charset="0"/>
                <a:ea typeface="Calibri" pitchFamily="34" charset="-122"/>
                <a:cs typeface="Calibri" pitchFamily="34" charset="-120"/>
              </a:rPr>
              <a:t>What the data revealed about customer subscription behaviour</a:t>
            </a:r>
            <a:endParaRPr lang="en-US" sz="1200" dirty="0"/>
          </a:p>
        </p:txBody>
      </p:sp>
      <p:sp>
        <p:nvSpPr>
          <p:cNvPr id="4" name="Shape 2"/>
          <p:cNvSpPr/>
          <p:nvPr/>
        </p:nvSpPr>
        <p:spPr>
          <a:xfrm>
            <a:off x="457200" y="1234440"/>
            <a:ext cx="4023360" cy="1600200"/>
          </a:xfrm>
          <a:prstGeom prst="roundRect">
            <a:avLst>
              <a:gd name="adj" fmla="val 5714"/>
            </a:avLst>
          </a:prstGeom>
          <a:solidFill>
            <a:srgbClr val="2E4A9E"/>
          </a:solidFill>
          <a:ln w="12700">
            <a:solidFill>
              <a:srgbClr val="2E4A9E"/>
            </a:solidFill>
            <a:prstDash val="solid"/>
          </a:ln>
          <a:effectLst>
            <a:outerShdw sx="100000" sy="100000" kx="0" ky="0" algn="bl" rotWithShape="0" blurRad="101600" dist="38100" dir="2700000">
              <a:srgbClr val="000000">
                <a:alpha val="15000"/>
              </a:srgbClr>
            </a:outerShdw>
          </a:effectLst>
        </p:spPr>
      </p:sp>
      <p:sp>
        <p:nvSpPr>
          <p:cNvPr id="5" name="Text 3"/>
          <p:cNvSpPr/>
          <p:nvPr/>
        </p:nvSpPr>
        <p:spPr>
          <a:xfrm>
            <a:off x="594360" y="1371600"/>
            <a:ext cx="1005840" cy="640080"/>
          </a:xfrm>
          <a:prstGeom prst="rect">
            <a:avLst/>
          </a:prstGeom>
          <a:noFill/>
          <a:ln/>
        </p:spPr>
        <p:txBody>
          <a:bodyPr wrap="square" lIns="0" tIns="0" rIns="0" bIns="0" rtlCol="0" anchor="ctr"/>
          <a:lstStyle/>
          <a:p>
            <a:pPr algn="ctr" indent="0" marL="0">
              <a:buNone/>
            </a:pPr>
            <a:r>
              <a:rPr lang="en-US" sz="2600" b="1" dirty="0">
                <a:solidFill>
                  <a:srgbClr val="4F9FD8"/>
                </a:solidFill>
                <a:latin typeface="Cambria" pitchFamily="34" charset="0"/>
                <a:ea typeface="Cambria" pitchFamily="34" charset="-122"/>
                <a:cs typeface="Cambria" pitchFamily="34" charset="-120"/>
              </a:rPr>
              <a:t>77%</a:t>
            </a:r>
            <a:endParaRPr lang="en-US" sz="2600" dirty="0"/>
          </a:p>
        </p:txBody>
      </p:sp>
      <p:sp>
        <p:nvSpPr>
          <p:cNvPr id="6" name="Text 4"/>
          <p:cNvSpPr/>
          <p:nvPr/>
        </p:nvSpPr>
        <p:spPr>
          <a:xfrm>
            <a:off x="594360" y="1984248"/>
            <a:ext cx="1005840" cy="365760"/>
          </a:xfrm>
          <a:prstGeom prst="rect">
            <a:avLst/>
          </a:prstGeom>
          <a:noFill/>
          <a:ln/>
        </p:spPr>
        <p:txBody>
          <a:bodyPr wrap="square" lIns="0" tIns="0" rIns="0" bIns="0" rtlCol="0" anchor="ctr"/>
          <a:lstStyle/>
          <a:p>
            <a:pPr algn="ctr" indent="0" marL="0">
              <a:buNone/>
            </a:pPr>
            <a:r>
              <a:rPr lang="en-US" sz="1000" dirty="0">
                <a:solidFill>
                  <a:srgbClr val="8FA8C8"/>
                </a:solidFill>
                <a:latin typeface="Calibri" pitchFamily="34" charset="0"/>
                <a:ea typeface="Calibri" pitchFamily="34" charset="-122"/>
                <a:cs typeface="Calibri" pitchFamily="34" charset="-120"/>
              </a:rPr>
              <a:t>Age</a:t>
            </a:r>
            <a:endParaRPr lang="en-US" sz="1000" dirty="0"/>
          </a:p>
        </p:txBody>
      </p:sp>
      <p:sp>
        <p:nvSpPr>
          <p:cNvPr id="7" name="Text 5"/>
          <p:cNvSpPr/>
          <p:nvPr/>
        </p:nvSpPr>
        <p:spPr>
          <a:xfrm>
            <a:off x="1691640" y="1399032"/>
            <a:ext cx="2651760" cy="11887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Customers aged 60 and above had the highest subscription rate, followed by under-30s at 60%.</a:t>
            </a:r>
            <a:endParaRPr lang="en-US" sz="1200" dirty="0"/>
          </a:p>
        </p:txBody>
      </p:sp>
      <p:sp>
        <p:nvSpPr>
          <p:cNvPr id="8" name="Shape 6"/>
          <p:cNvSpPr/>
          <p:nvPr/>
        </p:nvSpPr>
        <p:spPr>
          <a:xfrm>
            <a:off x="4846320" y="1234440"/>
            <a:ext cx="4023360" cy="1600200"/>
          </a:xfrm>
          <a:prstGeom prst="roundRect">
            <a:avLst>
              <a:gd name="adj" fmla="val 5714"/>
            </a:avLst>
          </a:prstGeom>
          <a:solidFill>
            <a:srgbClr val="2E4A9E"/>
          </a:solidFill>
          <a:ln w="12700">
            <a:solidFill>
              <a:srgbClr val="2E4A9E"/>
            </a:solidFill>
            <a:prstDash val="solid"/>
          </a:ln>
          <a:effectLst>
            <a:outerShdw sx="100000" sy="100000" kx="0" ky="0" algn="bl" rotWithShape="0" blurRad="101600" dist="38100" dir="2700000">
              <a:srgbClr val="000000">
                <a:alpha val="15000"/>
              </a:srgbClr>
            </a:outerShdw>
          </a:effectLst>
        </p:spPr>
      </p:sp>
      <p:sp>
        <p:nvSpPr>
          <p:cNvPr id="9" name="Text 7"/>
          <p:cNvSpPr/>
          <p:nvPr/>
        </p:nvSpPr>
        <p:spPr>
          <a:xfrm>
            <a:off x="4983480" y="1371600"/>
            <a:ext cx="1005840" cy="640080"/>
          </a:xfrm>
          <a:prstGeom prst="rect">
            <a:avLst/>
          </a:prstGeom>
          <a:noFill/>
          <a:ln/>
        </p:spPr>
        <p:txBody>
          <a:bodyPr wrap="square" lIns="0" tIns="0" rIns="0" bIns="0" rtlCol="0" anchor="ctr"/>
          <a:lstStyle/>
          <a:p>
            <a:pPr algn="ctr" indent="0" marL="0">
              <a:buNone/>
            </a:pPr>
            <a:r>
              <a:rPr lang="en-US" sz="2600" b="1" dirty="0">
                <a:solidFill>
                  <a:srgbClr val="4F9FD8"/>
                </a:solidFill>
                <a:latin typeface="Cambria" pitchFamily="34" charset="0"/>
                <a:ea typeface="Cambria" pitchFamily="34" charset="-122"/>
                <a:cs typeface="Cambria" pitchFamily="34" charset="-120"/>
              </a:rPr>
              <a:t>75%</a:t>
            </a:r>
            <a:endParaRPr lang="en-US" sz="2600" dirty="0"/>
          </a:p>
        </p:txBody>
      </p:sp>
      <p:sp>
        <p:nvSpPr>
          <p:cNvPr id="10" name="Text 8"/>
          <p:cNvSpPr/>
          <p:nvPr/>
        </p:nvSpPr>
        <p:spPr>
          <a:xfrm>
            <a:off x="4983480" y="1984248"/>
            <a:ext cx="1005840" cy="365760"/>
          </a:xfrm>
          <a:prstGeom prst="rect">
            <a:avLst/>
          </a:prstGeom>
          <a:noFill/>
          <a:ln/>
        </p:spPr>
        <p:txBody>
          <a:bodyPr wrap="square" lIns="0" tIns="0" rIns="0" bIns="0" rtlCol="0" anchor="ctr"/>
          <a:lstStyle/>
          <a:p>
            <a:pPr algn="ctr" indent="0" marL="0">
              <a:buNone/>
            </a:pPr>
            <a:r>
              <a:rPr lang="en-US" sz="1000" dirty="0">
                <a:solidFill>
                  <a:srgbClr val="8FA8C8"/>
                </a:solidFill>
                <a:latin typeface="Calibri" pitchFamily="34" charset="0"/>
                <a:ea typeface="Calibri" pitchFamily="34" charset="-122"/>
                <a:cs typeface="Calibri" pitchFamily="34" charset="-120"/>
              </a:rPr>
              <a:t>Job</a:t>
            </a:r>
            <a:endParaRPr lang="en-US" sz="1000" dirty="0"/>
          </a:p>
        </p:txBody>
      </p:sp>
      <p:sp>
        <p:nvSpPr>
          <p:cNvPr id="11" name="Text 9"/>
          <p:cNvSpPr/>
          <p:nvPr/>
        </p:nvSpPr>
        <p:spPr>
          <a:xfrm>
            <a:off x="6080760" y="1399032"/>
            <a:ext cx="2651760" cy="11887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Students and retired customers were the most likely to subscribe, while blue-collar workers had the lowest rate at 36%.</a:t>
            </a:r>
            <a:endParaRPr lang="en-US" sz="1200" dirty="0"/>
          </a:p>
        </p:txBody>
      </p:sp>
      <p:sp>
        <p:nvSpPr>
          <p:cNvPr id="12" name="Shape 10"/>
          <p:cNvSpPr/>
          <p:nvPr/>
        </p:nvSpPr>
        <p:spPr>
          <a:xfrm>
            <a:off x="457200" y="3063240"/>
            <a:ext cx="4023360" cy="1600200"/>
          </a:xfrm>
          <a:prstGeom prst="roundRect">
            <a:avLst>
              <a:gd name="adj" fmla="val 5714"/>
            </a:avLst>
          </a:prstGeom>
          <a:solidFill>
            <a:srgbClr val="2E4A9E"/>
          </a:solidFill>
          <a:ln w="12700">
            <a:solidFill>
              <a:srgbClr val="2E4A9E"/>
            </a:solidFill>
            <a:prstDash val="solid"/>
          </a:ln>
          <a:effectLst>
            <a:outerShdw sx="100000" sy="100000" kx="0" ky="0" algn="bl" rotWithShape="0" blurRad="101600" dist="38100" dir="2700000">
              <a:srgbClr val="000000">
                <a:alpha val="15000"/>
              </a:srgbClr>
            </a:outerShdw>
          </a:effectLst>
        </p:spPr>
      </p:sp>
      <p:sp>
        <p:nvSpPr>
          <p:cNvPr id="13" name="Text 11"/>
          <p:cNvSpPr/>
          <p:nvPr/>
        </p:nvSpPr>
        <p:spPr>
          <a:xfrm>
            <a:off x="594360" y="3200400"/>
            <a:ext cx="1005840" cy="640080"/>
          </a:xfrm>
          <a:prstGeom prst="rect">
            <a:avLst/>
          </a:prstGeom>
          <a:noFill/>
          <a:ln/>
        </p:spPr>
        <p:txBody>
          <a:bodyPr wrap="square" lIns="0" tIns="0" rIns="0" bIns="0" rtlCol="0" anchor="ctr"/>
          <a:lstStyle/>
          <a:p>
            <a:pPr algn="ctr" indent="0" marL="0">
              <a:buNone/>
            </a:pPr>
            <a:r>
              <a:rPr lang="en-US" sz="2600" b="1" dirty="0">
                <a:solidFill>
                  <a:srgbClr val="4F9FD8"/>
                </a:solidFill>
                <a:latin typeface="Cambria" pitchFamily="34" charset="0"/>
                <a:ea typeface="Cambria" pitchFamily="34" charset="-122"/>
                <a:cs typeface="Cambria" pitchFamily="34" charset="-120"/>
              </a:rPr>
              <a:t>29%</a:t>
            </a:r>
            <a:endParaRPr lang="en-US" sz="2600" dirty="0"/>
          </a:p>
        </p:txBody>
      </p:sp>
      <p:sp>
        <p:nvSpPr>
          <p:cNvPr id="14" name="Text 12"/>
          <p:cNvSpPr/>
          <p:nvPr/>
        </p:nvSpPr>
        <p:spPr>
          <a:xfrm>
            <a:off x="594360" y="3813048"/>
            <a:ext cx="1005840" cy="365760"/>
          </a:xfrm>
          <a:prstGeom prst="rect">
            <a:avLst/>
          </a:prstGeom>
          <a:noFill/>
          <a:ln/>
        </p:spPr>
        <p:txBody>
          <a:bodyPr wrap="square" lIns="0" tIns="0" rIns="0" bIns="0" rtlCol="0" anchor="ctr"/>
          <a:lstStyle/>
          <a:p>
            <a:pPr algn="ctr" indent="0" marL="0">
              <a:buNone/>
            </a:pPr>
            <a:r>
              <a:rPr lang="en-US" sz="1000" dirty="0">
                <a:solidFill>
                  <a:srgbClr val="8FA8C8"/>
                </a:solidFill>
                <a:latin typeface="Calibri" pitchFamily="34" charset="0"/>
                <a:ea typeface="Calibri" pitchFamily="34" charset="-122"/>
                <a:cs typeface="Calibri" pitchFamily="34" charset="-120"/>
              </a:rPr>
              <a:t>Education</a:t>
            </a:r>
            <a:endParaRPr lang="en-US" sz="1000" dirty="0"/>
          </a:p>
        </p:txBody>
      </p:sp>
      <p:sp>
        <p:nvSpPr>
          <p:cNvPr id="15" name="Text 13"/>
          <p:cNvSpPr/>
          <p:nvPr/>
        </p:nvSpPr>
        <p:spPr>
          <a:xfrm>
            <a:off x="1691640" y="3227832"/>
            <a:ext cx="2651760" cy="11887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Tertiary-educated customers showed the highest subscription rate, outperforming secondary and primary education groups.</a:t>
            </a:r>
            <a:endParaRPr lang="en-US" sz="1200" dirty="0"/>
          </a:p>
        </p:txBody>
      </p:sp>
      <p:sp>
        <p:nvSpPr>
          <p:cNvPr id="16" name="Shape 14"/>
          <p:cNvSpPr/>
          <p:nvPr/>
        </p:nvSpPr>
        <p:spPr>
          <a:xfrm>
            <a:off x="4846320" y="3063240"/>
            <a:ext cx="4023360" cy="1600200"/>
          </a:xfrm>
          <a:prstGeom prst="roundRect">
            <a:avLst>
              <a:gd name="adj" fmla="val 5714"/>
            </a:avLst>
          </a:prstGeom>
          <a:solidFill>
            <a:srgbClr val="2E4A9E"/>
          </a:solidFill>
          <a:ln w="12700">
            <a:solidFill>
              <a:srgbClr val="2E4A9E"/>
            </a:solidFill>
            <a:prstDash val="solid"/>
          </a:ln>
          <a:effectLst>
            <a:outerShdw sx="100000" sy="100000" kx="0" ky="0" algn="bl" rotWithShape="0" blurRad="101600" dist="38100" dir="2700000">
              <a:srgbClr val="000000">
                <a:alpha val="15000"/>
              </a:srgbClr>
            </a:outerShdw>
          </a:effectLst>
        </p:spPr>
      </p:sp>
      <p:sp>
        <p:nvSpPr>
          <p:cNvPr id="17" name="Text 15"/>
          <p:cNvSpPr/>
          <p:nvPr/>
        </p:nvSpPr>
        <p:spPr>
          <a:xfrm>
            <a:off x="4983480" y="3200400"/>
            <a:ext cx="1005840" cy="640080"/>
          </a:xfrm>
          <a:prstGeom prst="rect">
            <a:avLst/>
          </a:prstGeom>
          <a:noFill/>
          <a:ln/>
        </p:spPr>
        <p:txBody>
          <a:bodyPr wrap="square" lIns="0" tIns="0" rIns="0" bIns="0" rtlCol="0" anchor="ctr"/>
          <a:lstStyle/>
          <a:p>
            <a:pPr algn="ctr" indent="0" marL="0">
              <a:buNone/>
            </a:pPr>
            <a:r>
              <a:rPr lang="en-US" sz="2600" b="1" dirty="0">
                <a:solidFill>
                  <a:srgbClr val="4F9FD8"/>
                </a:solidFill>
                <a:latin typeface="Cambria" pitchFamily="34" charset="0"/>
                <a:ea typeface="Cambria" pitchFamily="34" charset="-122"/>
                <a:cs typeface="Cambria" pitchFamily="34" charset="-120"/>
              </a:rPr>
              <a:t>74.6%</a:t>
            </a:r>
            <a:endParaRPr lang="en-US" sz="2600" dirty="0"/>
          </a:p>
        </p:txBody>
      </p:sp>
      <p:sp>
        <p:nvSpPr>
          <p:cNvPr id="18" name="Text 16"/>
          <p:cNvSpPr/>
          <p:nvPr/>
        </p:nvSpPr>
        <p:spPr>
          <a:xfrm>
            <a:off x="4983480" y="3813048"/>
            <a:ext cx="1005840" cy="365760"/>
          </a:xfrm>
          <a:prstGeom prst="rect">
            <a:avLst/>
          </a:prstGeom>
          <a:noFill/>
          <a:ln/>
        </p:spPr>
        <p:txBody>
          <a:bodyPr wrap="square" lIns="0" tIns="0" rIns="0" bIns="0" rtlCol="0" anchor="ctr"/>
          <a:lstStyle/>
          <a:p>
            <a:pPr algn="ctr" indent="0" marL="0">
              <a:buNone/>
            </a:pPr>
            <a:r>
              <a:rPr lang="en-US" sz="1000" dirty="0">
                <a:solidFill>
                  <a:srgbClr val="8FA8C8"/>
                </a:solidFill>
                <a:latin typeface="Calibri" pitchFamily="34" charset="0"/>
                <a:ea typeface="Calibri" pitchFamily="34" charset="-122"/>
                <a:cs typeface="Calibri" pitchFamily="34" charset="-120"/>
              </a:rPr>
              <a:t>History</a:t>
            </a:r>
            <a:endParaRPr lang="en-US" sz="1000" dirty="0"/>
          </a:p>
        </p:txBody>
      </p:sp>
      <p:sp>
        <p:nvSpPr>
          <p:cNvPr id="19" name="Text 17"/>
          <p:cNvSpPr/>
          <p:nvPr/>
        </p:nvSpPr>
        <p:spPr>
          <a:xfrm>
            <a:off x="6080760" y="3227832"/>
            <a:ext cx="2651760" cy="11887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all customers contacted, 74.6% had never been reached in a previous campaign — a largely fresh audience.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3600" b="1" dirty="0">
                <a:solidFill>
                  <a:srgbClr val="1A1A2E"/>
                </a:solidFill>
                <a:latin typeface="Cambria" pitchFamily="34" charset="0"/>
                <a:ea typeface="Cambria" pitchFamily="34" charset="-122"/>
                <a:cs typeface="Cambria" pitchFamily="34" charset="-120"/>
              </a:rPr>
              <a:t>Recommendations</a:t>
            </a:r>
            <a:endParaRPr lang="en-US" sz="3600" dirty="0"/>
          </a:p>
        </p:txBody>
      </p:sp>
      <p:sp>
        <p:nvSpPr>
          <p:cNvPr id="3" name="Text 1"/>
          <p:cNvSpPr/>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3D5A80"/>
                </a:solidFill>
                <a:latin typeface="Calibri" pitchFamily="34" charset="0"/>
                <a:ea typeface="Calibri" pitchFamily="34" charset="-122"/>
                <a:cs typeface="Calibri" pitchFamily="34" charset="-120"/>
              </a:rPr>
              <a:t>Actions the bank should take to improve future campaign performance</a:t>
            </a:r>
            <a:endParaRPr lang="en-US" sz="1200" dirty="0"/>
          </a:p>
        </p:txBody>
      </p:sp>
      <p:sp>
        <p:nvSpPr>
          <p:cNvPr id="4" name="Shape 2"/>
          <p:cNvSpPr/>
          <p:nvPr/>
        </p:nvSpPr>
        <p:spPr>
          <a:xfrm>
            <a:off x="365760" y="123444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502920" y="1371600"/>
            <a:ext cx="475488" cy="475488"/>
          </a:xfrm>
          <a:prstGeom prst="ellipse">
            <a:avLst/>
          </a:prstGeom>
          <a:solidFill>
            <a:srgbClr val="1E2761"/>
          </a:solidFill>
          <a:ln w="12700">
            <a:solidFill>
              <a:srgbClr val="1E2761"/>
            </a:solidFill>
            <a:prstDash val="solid"/>
          </a:ln>
        </p:spPr>
      </p:sp>
      <p:sp>
        <p:nvSpPr>
          <p:cNvPr id="6" name="Text 4"/>
          <p:cNvSpPr/>
          <p:nvPr/>
        </p:nvSpPr>
        <p:spPr>
          <a:xfrm>
            <a:off x="502920" y="137160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7" name="Text 5"/>
          <p:cNvSpPr/>
          <p:nvPr/>
        </p:nvSpPr>
        <p:spPr>
          <a:xfrm>
            <a:off x="475488" y="192024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Target High-Value Segments</a:t>
            </a:r>
            <a:endParaRPr lang="en-US" sz="1100" dirty="0"/>
          </a:p>
        </p:txBody>
      </p:sp>
      <p:sp>
        <p:nvSpPr>
          <p:cNvPr id="8" name="Text 6"/>
          <p:cNvSpPr/>
          <p:nvPr/>
        </p:nvSpPr>
        <p:spPr>
          <a:xfrm>
            <a:off x="475488" y="224028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Focus on customers aged 60+, students, and retirees — these groups show the highest subscription rates consistently.</a:t>
            </a:r>
            <a:endParaRPr lang="en-US" sz="950" dirty="0"/>
          </a:p>
        </p:txBody>
      </p:sp>
      <p:sp>
        <p:nvSpPr>
          <p:cNvPr id="9" name="Shape 7"/>
          <p:cNvSpPr/>
          <p:nvPr/>
        </p:nvSpPr>
        <p:spPr>
          <a:xfrm>
            <a:off x="3200400" y="123444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10" name="Shape 8"/>
          <p:cNvSpPr/>
          <p:nvPr/>
        </p:nvSpPr>
        <p:spPr>
          <a:xfrm>
            <a:off x="3337560" y="1371600"/>
            <a:ext cx="475488" cy="475488"/>
          </a:xfrm>
          <a:prstGeom prst="ellipse">
            <a:avLst/>
          </a:prstGeom>
          <a:solidFill>
            <a:srgbClr val="1E2761"/>
          </a:solidFill>
          <a:ln w="12700">
            <a:solidFill>
              <a:srgbClr val="1E2761"/>
            </a:solidFill>
            <a:prstDash val="solid"/>
          </a:ln>
        </p:spPr>
      </p:sp>
      <p:sp>
        <p:nvSpPr>
          <p:cNvPr id="11" name="Text 9"/>
          <p:cNvSpPr/>
          <p:nvPr/>
        </p:nvSpPr>
        <p:spPr>
          <a:xfrm>
            <a:off x="3337560" y="137160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2" name="Text 10"/>
          <p:cNvSpPr/>
          <p:nvPr/>
        </p:nvSpPr>
        <p:spPr>
          <a:xfrm>
            <a:off x="3310128" y="192024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Prioritize Cellular Contact</a:t>
            </a:r>
            <a:endParaRPr lang="en-US" sz="1100" dirty="0"/>
          </a:p>
        </p:txBody>
      </p:sp>
      <p:sp>
        <p:nvSpPr>
          <p:cNvPr id="13" name="Text 11"/>
          <p:cNvSpPr/>
          <p:nvPr/>
        </p:nvSpPr>
        <p:spPr>
          <a:xfrm>
            <a:off x="3310128" y="224028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Cellular calls yield better engagement. Ensure customer mobile numbers are captured and used as the primary channel.</a:t>
            </a:r>
            <a:endParaRPr lang="en-US" sz="950" dirty="0"/>
          </a:p>
        </p:txBody>
      </p:sp>
      <p:sp>
        <p:nvSpPr>
          <p:cNvPr id="14" name="Shape 12"/>
          <p:cNvSpPr/>
          <p:nvPr/>
        </p:nvSpPr>
        <p:spPr>
          <a:xfrm>
            <a:off x="6035040" y="123444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15" name="Shape 13"/>
          <p:cNvSpPr/>
          <p:nvPr/>
        </p:nvSpPr>
        <p:spPr>
          <a:xfrm>
            <a:off x="6172200" y="1371600"/>
            <a:ext cx="475488" cy="475488"/>
          </a:xfrm>
          <a:prstGeom prst="ellipse">
            <a:avLst/>
          </a:prstGeom>
          <a:solidFill>
            <a:srgbClr val="1E2761"/>
          </a:solidFill>
          <a:ln w="12700">
            <a:solidFill>
              <a:srgbClr val="1E2761"/>
            </a:solidFill>
            <a:prstDash val="solid"/>
          </a:ln>
        </p:spPr>
      </p:sp>
      <p:sp>
        <p:nvSpPr>
          <p:cNvPr id="16" name="Text 14"/>
          <p:cNvSpPr/>
          <p:nvPr/>
        </p:nvSpPr>
        <p:spPr>
          <a:xfrm>
            <a:off x="6172200" y="137160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7" name="Text 15"/>
          <p:cNvSpPr/>
          <p:nvPr/>
        </p:nvSpPr>
        <p:spPr>
          <a:xfrm>
            <a:off x="6144768" y="192024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Re-Engage Past Successes</a:t>
            </a:r>
            <a:endParaRPr lang="en-US" sz="1100" dirty="0"/>
          </a:p>
        </p:txBody>
      </p:sp>
      <p:sp>
        <p:nvSpPr>
          <p:cNvPr id="18" name="Text 16"/>
          <p:cNvSpPr/>
          <p:nvPr/>
        </p:nvSpPr>
        <p:spPr>
          <a:xfrm>
            <a:off x="6144768" y="224028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Customers who responded positively in previous campaigns carry a much higher likelihood of subscribing again.</a:t>
            </a:r>
            <a:endParaRPr lang="en-US" sz="950" dirty="0"/>
          </a:p>
        </p:txBody>
      </p:sp>
      <p:sp>
        <p:nvSpPr>
          <p:cNvPr id="19" name="Shape 17"/>
          <p:cNvSpPr/>
          <p:nvPr/>
        </p:nvSpPr>
        <p:spPr>
          <a:xfrm>
            <a:off x="365760" y="30175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20" name="Shape 18"/>
          <p:cNvSpPr/>
          <p:nvPr/>
        </p:nvSpPr>
        <p:spPr>
          <a:xfrm>
            <a:off x="502920" y="3154680"/>
            <a:ext cx="475488" cy="475488"/>
          </a:xfrm>
          <a:prstGeom prst="ellipse">
            <a:avLst/>
          </a:prstGeom>
          <a:solidFill>
            <a:srgbClr val="1E2761"/>
          </a:solidFill>
          <a:ln w="12700">
            <a:solidFill>
              <a:srgbClr val="1E2761"/>
            </a:solidFill>
            <a:prstDash val="solid"/>
          </a:ln>
        </p:spPr>
      </p:sp>
      <p:sp>
        <p:nvSpPr>
          <p:cNvPr id="21" name="Text 19"/>
          <p:cNvSpPr/>
          <p:nvPr/>
        </p:nvSpPr>
        <p:spPr>
          <a:xfrm>
            <a:off x="502920" y="31546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2" name="Text 20"/>
          <p:cNvSpPr/>
          <p:nvPr/>
        </p:nvSpPr>
        <p:spPr>
          <a:xfrm>
            <a:off x="475488" y="370332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Launch Campaigns Early</a:t>
            </a:r>
            <a:endParaRPr lang="en-US" sz="1100" dirty="0"/>
          </a:p>
        </p:txBody>
      </p:sp>
      <p:sp>
        <p:nvSpPr>
          <p:cNvPr id="23" name="Text 21"/>
          <p:cNvSpPr/>
          <p:nvPr/>
        </p:nvSpPr>
        <p:spPr>
          <a:xfrm>
            <a:off x="475488" y="402336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Subscription rates decline as the year progresses. Front-load campaign efforts at the start of the year for maximum impact.</a:t>
            </a:r>
            <a:endParaRPr lang="en-US" sz="950" dirty="0"/>
          </a:p>
        </p:txBody>
      </p:sp>
      <p:sp>
        <p:nvSpPr>
          <p:cNvPr id="24" name="Shape 22"/>
          <p:cNvSpPr/>
          <p:nvPr/>
        </p:nvSpPr>
        <p:spPr>
          <a:xfrm>
            <a:off x="3200400" y="30175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25" name="Shape 23"/>
          <p:cNvSpPr/>
          <p:nvPr/>
        </p:nvSpPr>
        <p:spPr>
          <a:xfrm>
            <a:off x="3337560" y="3154680"/>
            <a:ext cx="475488" cy="475488"/>
          </a:xfrm>
          <a:prstGeom prst="ellipse">
            <a:avLst/>
          </a:prstGeom>
          <a:solidFill>
            <a:srgbClr val="1E2761"/>
          </a:solidFill>
          <a:ln w="12700">
            <a:solidFill>
              <a:srgbClr val="1E2761"/>
            </a:solidFill>
            <a:prstDash val="solid"/>
          </a:ln>
        </p:spPr>
      </p:sp>
      <p:sp>
        <p:nvSpPr>
          <p:cNvPr id="26" name="Text 24"/>
          <p:cNvSpPr/>
          <p:nvPr/>
        </p:nvSpPr>
        <p:spPr>
          <a:xfrm>
            <a:off x="3337560" y="31546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7" name="Text 25"/>
          <p:cNvSpPr/>
          <p:nvPr/>
        </p:nvSpPr>
        <p:spPr>
          <a:xfrm>
            <a:off x="3310128" y="370332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Tailor Education-Based Messaging</a:t>
            </a:r>
            <a:endParaRPr lang="en-US" sz="1100" dirty="0"/>
          </a:p>
        </p:txBody>
      </p:sp>
      <p:sp>
        <p:nvSpPr>
          <p:cNvPr id="28" name="Text 26"/>
          <p:cNvSpPr/>
          <p:nvPr/>
        </p:nvSpPr>
        <p:spPr>
          <a:xfrm>
            <a:off x="3310128" y="402336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Design simpler, clearer messaging for lower-education customers to improve their conversion rates.</a:t>
            </a:r>
            <a:endParaRPr lang="en-US" sz="950" dirty="0"/>
          </a:p>
        </p:txBody>
      </p:sp>
      <p:sp>
        <p:nvSpPr>
          <p:cNvPr id="29" name="Shape 27"/>
          <p:cNvSpPr/>
          <p:nvPr/>
        </p:nvSpPr>
        <p:spPr>
          <a:xfrm>
            <a:off x="6035040" y="30175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5000"/>
              </a:srgbClr>
            </a:outerShdw>
          </a:effectLst>
        </p:spPr>
      </p:sp>
      <p:sp>
        <p:nvSpPr>
          <p:cNvPr id="30" name="Shape 28"/>
          <p:cNvSpPr/>
          <p:nvPr/>
        </p:nvSpPr>
        <p:spPr>
          <a:xfrm>
            <a:off x="6172200" y="3154680"/>
            <a:ext cx="475488" cy="475488"/>
          </a:xfrm>
          <a:prstGeom prst="ellipse">
            <a:avLst/>
          </a:prstGeom>
          <a:solidFill>
            <a:srgbClr val="1E2761"/>
          </a:solidFill>
          <a:ln w="12700">
            <a:solidFill>
              <a:srgbClr val="1E2761"/>
            </a:solidFill>
            <a:prstDash val="solid"/>
          </a:ln>
        </p:spPr>
      </p:sp>
      <p:sp>
        <p:nvSpPr>
          <p:cNvPr id="31" name="Text 29"/>
          <p:cNvSpPr/>
          <p:nvPr/>
        </p:nvSpPr>
        <p:spPr>
          <a:xfrm>
            <a:off x="6172200" y="31546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2" name="Text 30"/>
          <p:cNvSpPr/>
          <p:nvPr/>
        </p:nvSpPr>
        <p:spPr>
          <a:xfrm>
            <a:off x="6144768" y="3703320"/>
            <a:ext cx="2377440" cy="347472"/>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Reduce Spend on Low Performers</a:t>
            </a:r>
            <a:endParaRPr lang="en-US" sz="1100" dirty="0"/>
          </a:p>
        </p:txBody>
      </p:sp>
      <p:sp>
        <p:nvSpPr>
          <p:cNvPr id="33" name="Text 31"/>
          <p:cNvSpPr/>
          <p:nvPr/>
        </p:nvSpPr>
        <p:spPr>
          <a:xfrm>
            <a:off x="6144768" y="4023360"/>
            <a:ext cx="2377440" cy="530352"/>
          </a:xfrm>
          <a:prstGeom prst="rect">
            <a:avLst/>
          </a:prstGeom>
          <a:noFill/>
          <a:ln/>
        </p:spPr>
        <p:txBody>
          <a:bodyPr wrap="square" lIns="0" tIns="0" rIns="0" bIns="0" rtlCol="0" anchor="ctr"/>
          <a:lstStyle/>
          <a:p>
            <a:pPr indent="0" marL="0">
              <a:buNone/>
            </a:pPr>
            <a:r>
              <a:rPr lang="en-US" sz="950" dirty="0">
                <a:solidFill>
                  <a:srgbClr val="3D5A80"/>
                </a:solidFill>
                <a:latin typeface="Calibri" pitchFamily="34" charset="0"/>
                <a:ea typeface="Calibri" pitchFamily="34" charset="-122"/>
                <a:cs typeface="Calibri" pitchFamily="34" charset="-120"/>
              </a:rPr>
              <a:t>Blue-collar and middle-aged groups show low rates. Reduce spend on these segments or redesign the approach.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2E4A9E">
              <a:alpha val="35000"/>
            </a:srgbClr>
          </a:solidFill>
          <a:ln w="12700">
            <a:solidFill>
              <a:srgbClr val="2E4A9E">
                <a:alpha val="35000"/>
              </a:srgbClr>
            </a:solidFill>
            <a:prstDash val="solid"/>
          </a:ln>
        </p:spPr>
      </p:sp>
      <p:sp>
        <p:nvSpPr>
          <p:cNvPr id="3" name="Shape 1"/>
          <p:cNvSpPr/>
          <p:nvPr/>
        </p:nvSpPr>
        <p:spPr>
          <a:xfrm>
            <a:off x="6858000" y="-914400"/>
            <a:ext cx="3657600" cy="3657600"/>
          </a:xfrm>
          <a:prstGeom prst="ellipse">
            <a:avLst/>
          </a:prstGeom>
          <a:solidFill>
            <a:srgbClr val="4F9FD8">
              <a:alpha val="20000"/>
            </a:srgbClr>
          </a:solidFill>
          <a:ln w="12700">
            <a:solidFill>
              <a:srgbClr val="4F9FD8">
                <a:alpha val="20000"/>
              </a:srgbClr>
            </a:solidFill>
            <a:prstDash val="solid"/>
          </a:ln>
        </p:spPr>
      </p:sp>
      <p:sp>
        <p:nvSpPr>
          <p:cNvPr id="4" name="Text 2"/>
          <p:cNvSpPr/>
          <p:nvPr/>
        </p:nvSpPr>
        <p:spPr>
          <a:xfrm>
            <a:off x="640080" y="411480"/>
            <a:ext cx="7863840" cy="5943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5" name="Text 3"/>
          <p:cNvSpPr/>
          <p:nvPr/>
        </p:nvSpPr>
        <p:spPr>
          <a:xfrm>
            <a:off x="640080" y="1143000"/>
            <a:ext cx="7863840" cy="1005840"/>
          </a:xfrm>
          <a:prstGeom prst="rect">
            <a:avLst/>
          </a:prstGeom>
          <a:noFill/>
          <a:ln/>
        </p:spPr>
        <p:txBody>
          <a:bodyPr wrap="square" lIns="0" tIns="0" rIns="0" bIns="0" rtlCol="0" anchor="ctr"/>
          <a:lstStyle/>
          <a:p>
            <a:pPr algn="l" indent="0" marL="0">
              <a:buNone/>
            </a:pPr>
            <a:r>
              <a:rPr lang="en-US" sz="1350" dirty="0">
                <a:solidFill>
                  <a:srgbClr val="8FA8C8"/>
                </a:solidFill>
                <a:latin typeface="Calibri" pitchFamily="34" charset="0"/>
                <a:ea typeface="Calibri" pitchFamily="34" charset="-122"/>
                <a:cs typeface="Calibri" pitchFamily="34" charset="-120"/>
              </a:rPr>
              <a:t>This analysis successfully identified the key factors that influence term deposit subscriptions. By combining MySQL for structured exploration and Power BI for interactive visualization, clear patterns were uncovered across age, job type, education, contact method, and campaign history.</a:t>
            </a:r>
            <a:endParaRPr lang="en-US" sz="1350" dirty="0"/>
          </a:p>
        </p:txBody>
      </p:sp>
      <p:sp>
        <p:nvSpPr>
          <p:cNvPr id="6" name="Shape 4"/>
          <p:cNvSpPr/>
          <p:nvPr/>
        </p:nvSpPr>
        <p:spPr>
          <a:xfrm>
            <a:off x="640080" y="2331720"/>
            <a:ext cx="274320" cy="274320"/>
          </a:xfrm>
          <a:prstGeom prst="ellipse">
            <a:avLst/>
          </a:prstGeom>
          <a:solidFill>
            <a:srgbClr val="4F9FD8"/>
          </a:solidFill>
          <a:ln w="12700">
            <a:solidFill>
              <a:srgbClr val="4F9FD8"/>
            </a:solidFill>
            <a:prstDash val="solid"/>
          </a:ln>
        </p:spPr>
      </p:sp>
      <p:sp>
        <p:nvSpPr>
          <p:cNvPr id="7" name="Text 5"/>
          <p:cNvSpPr/>
          <p:nvPr/>
        </p:nvSpPr>
        <p:spPr>
          <a:xfrm>
            <a:off x="1051560" y="2304288"/>
            <a:ext cx="7498080" cy="34747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 overall subscription rate of 47.38% signals a reasonably effective campaign</a:t>
            </a:r>
            <a:endParaRPr lang="en-US" sz="1300" dirty="0"/>
          </a:p>
        </p:txBody>
      </p:sp>
      <p:sp>
        <p:nvSpPr>
          <p:cNvPr id="8" name="Shape 6"/>
          <p:cNvSpPr/>
          <p:nvPr/>
        </p:nvSpPr>
        <p:spPr>
          <a:xfrm>
            <a:off x="640080" y="2935224"/>
            <a:ext cx="274320" cy="274320"/>
          </a:xfrm>
          <a:prstGeom prst="ellipse">
            <a:avLst/>
          </a:prstGeom>
          <a:solidFill>
            <a:srgbClr val="4F9FD8"/>
          </a:solidFill>
          <a:ln w="12700">
            <a:solidFill>
              <a:srgbClr val="4F9FD8"/>
            </a:solidFill>
            <a:prstDash val="solid"/>
          </a:ln>
        </p:spPr>
      </p:sp>
      <p:sp>
        <p:nvSpPr>
          <p:cNvPr id="9" name="Text 7"/>
          <p:cNvSpPr/>
          <p:nvPr/>
        </p:nvSpPr>
        <p:spPr>
          <a:xfrm>
            <a:off x="1051560" y="2907792"/>
            <a:ext cx="7498080" cy="34747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Older customers, students and retirees are the highest-converting segments</a:t>
            </a:r>
            <a:endParaRPr lang="en-US" sz="1300" dirty="0"/>
          </a:p>
        </p:txBody>
      </p:sp>
      <p:sp>
        <p:nvSpPr>
          <p:cNvPr id="10" name="Shape 8"/>
          <p:cNvSpPr/>
          <p:nvPr/>
        </p:nvSpPr>
        <p:spPr>
          <a:xfrm>
            <a:off x="640080" y="3538728"/>
            <a:ext cx="274320" cy="274320"/>
          </a:xfrm>
          <a:prstGeom prst="ellipse">
            <a:avLst/>
          </a:prstGeom>
          <a:solidFill>
            <a:srgbClr val="4F9FD8"/>
          </a:solidFill>
          <a:ln w="12700">
            <a:solidFill>
              <a:srgbClr val="4F9FD8"/>
            </a:solidFill>
            <a:prstDash val="solid"/>
          </a:ln>
        </p:spPr>
      </p:sp>
      <p:sp>
        <p:nvSpPr>
          <p:cNvPr id="11" name="Text 9"/>
          <p:cNvSpPr/>
          <p:nvPr/>
        </p:nvSpPr>
        <p:spPr>
          <a:xfrm>
            <a:off x="1051560" y="3511296"/>
            <a:ext cx="7498080" cy="34747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Cellular contact and early campaign timing drive the best results</a:t>
            </a:r>
            <a:endParaRPr lang="en-US" sz="1300" dirty="0"/>
          </a:p>
        </p:txBody>
      </p:sp>
      <p:sp>
        <p:nvSpPr>
          <p:cNvPr id="12" name="Shape 10"/>
          <p:cNvSpPr/>
          <p:nvPr/>
        </p:nvSpPr>
        <p:spPr>
          <a:xfrm>
            <a:off x="640080" y="4142232"/>
            <a:ext cx="274320" cy="274320"/>
          </a:xfrm>
          <a:prstGeom prst="ellipse">
            <a:avLst/>
          </a:prstGeom>
          <a:solidFill>
            <a:srgbClr val="4F9FD8"/>
          </a:solidFill>
          <a:ln w="12700">
            <a:solidFill>
              <a:srgbClr val="4F9FD8"/>
            </a:solidFill>
            <a:prstDash val="solid"/>
          </a:ln>
        </p:spPr>
      </p:sp>
      <p:sp>
        <p:nvSpPr>
          <p:cNvPr id="13" name="Text 11"/>
          <p:cNvSpPr/>
          <p:nvPr/>
        </p:nvSpPr>
        <p:spPr>
          <a:xfrm>
            <a:off x="1051560" y="4114800"/>
            <a:ext cx="7498080" cy="34747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Smarter targeting can significantly reduce costs and increase ROI</a:t>
            </a:r>
            <a:endParaRPr lang="en-US" sz="1300" dirty="0"/>
          </a:p>
        </p:txBody>
      </p:sp>
      <p:sp>
        <p:nvSpPr>
          <p:cNvPr id="14" name="Shape 12"/>
          <p:cNvSpPr/>
          <p:nvPr/>
        </p:nvSpPr>
        <p:spPr>
          <a:xfrm>
            <a:off x="0" y="4572000"/>
            <a:ext cx="9144000" cy="571500"/>
          </a:xfrm>
          <a:prstGeom prst="rect">
            <a:avLst/>
          </a:prstGeom>
          <a:solidFill>
            <a:srgbClr val="2E4A9E"/>
          </a:solidFill>
          <a:ln w="12700">
            <a:solidFill>
              <a:srgbClr val="2E4A9E"/>
            </a:solidFill>
            <a:prstDash val="solid"/>
          </a:ln>
        </p:spPr>
      </p:sp>
      <p:sp>
        <p:nvSpPr>
          <p:cNvPr id="15" name="Text 13"/>
          <p:cNvSpPr/>
          <p:nvPr/>
        </p:nvSpPr>
        <p:spPr>
          <a:xfrm>
            <a:off x="457200" y="4572000"/>
            <a:ext cx="8229600" cy="571500"/>
          </a:xfrm>
          <a:prstGeom prst="rect">
            <a:avLst/>
          </a:prstGeom>
          <a:noFill/>
          <a:ln/>
        </p:spPr>
        <p:txBody>
          <a:bodyPr wrap="square" lIns="0" tIns="0" rIns="0" bIns="0" rtlCol="0" anchor="ctr"/>
          <a:lstStyle/>
          <a:p>
            <a:pPr algn="ctr" indent="0" marL="0">
              <a:buNone/>
            </a:pPr>
            <a:r>
              <a:rPr lang="en-US" sz="1100" dirty="0">
                <a:solidFill>
                  <a:srgbClr val="8FA8C8"/>
                </a:solidFill>
                <a:latin typeface="Calibri" pitchFamily="34" charset="0"/>
                <a:ea typeface="Calibri" pitchFamily="34" charset="-122"/>
                <a:cs typeface="Calibri" pitchFamily="34" charset="-120"/>
              </a:rPr>
              <a:t>Bank Marketing Analytics   |   Data Analysis Intern   |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 Analytics</dc:title>
  <dc:subject>PptxGenJS Presentation</dc:subject>
  <dc:creator>Data Analysis Intern</dc:creator>
  <cp:lastModifiedBy>Data Analysis Intern</cp:lastModifiedBy>
  <cp:revision>1</cp:revision>
  <dcterms:created xsi:type="dcterms:W3CDTF">2026-07-04T17:30:13Z</dcterms:created>
  <dcterms:modified xsi:type="dcterms:W3CDTF">2026-07-04T17:30:13Z</dcterms:modified>
</cp:coreProperties>
</file>